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7Lpttav/vnO3Z4ArsFqA9TF54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F86B7E-9EB0-4654-968B-B51B31C3AE0D}">
  <a:tblStyle styleId="{3CF86B7E-9EB0-4654-968B-B51B31C3AE0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a4b3b5cf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fa4b3b5cf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a4b3b5cf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a4b3b5cf4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fa4b3b5cf4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a4b3b5cf4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localhost:7200" TargetMode="External"/><Relationship Id="rId4" Type="http://schemas.openxmlformats.org/officeDocument/2006/relationships/hyperlink" Target="http://localhost:7200/repositories/worldcup2022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0A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0A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8A1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058400" y="4663440"/>
            <a:ext cx="3108960" cy="3108960"/>
          </a:xfrm>
          <a:prstGeom prst="ellipse">
            <a:avLst/>
          </a:prstGeom>
          <a:solidFill>
            <a:srgbClr val="8A1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8A24B"/>
                </a:solidFill>
                <a:latin typeface="Calibri"/>
                <a:ea typeface="Calibri"/>
                <a:cs typeface="Calibri"/>
                <a:sym typeface="Calibri"/>
              </a:rPr>
              <a:t>INFORMATION RETRIEVAL  · 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1828800"/>
            <a:ext cx="10607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Multimedia Knowledge Graph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 the FIFA World Cup 2022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640080" y="388620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8C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3E8CE"/>
                </a:solidFill>
                <a:latin typeface="Calibri"/>
                <a:ea typeface="Calibri"/>
                <a:cs typeface="Calibri"/>
                <a:sym typeface="Calibri"/>
              </a:rPr>
              <a:t>RDF/OWL knowledge graph · ResNet-50 visual layer · SPARQL &amp; content-based retrieval · GraphDB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658368" y="4709160"/>
            <a:ext cx="3840480" cy="0"/>
          </a:xfrm>
          <a:prstGeom prst="straightConnector1">
            <a:avLst/>
          </a:prstGeom>
          <a:noFill/>
          <a:ln cap="flat" cmpd="sng" w="19050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 txBox="1"/>
          <p:nvPr/>
        </p:nvSpPr>
        <p:spPr>
          <a:xfrm>
            <a:off x="640080" y="489204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DFD6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E9DFD6"/>
                </a:solidFill>
                <a:latin typeface="Calibri"/>
                <a:ea typeface="Calibri"/>
                <a:cs typeface="Calibri"/>
                <a:sym typeface="Calibri"/>
              </a:rPr>
              <a:t>Prof. Antonio Maria Rinaldi · Cristiano Russo</a:t>
            </a:r>
            <a:br>
              <a:rPr b="0" i="0" lang="en-US" sz="1500" u="none" cap="none" strike="noStrike">
                <a:solidFill>
                  <a:srgbClr val="E9DFD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9DFD6"/>
                </a:solidFill>
                <a:latin typeface="Calibri"/>
                <a:ea typeface="Calibri"/>
                <a:cs typeface="Calibri"/>
                <a:sym typeface="Calibri"/>
              </a:rPr>
              <a:t>University of Naples Federico II </a:t>
            </a:r>
            <a:endParaRPr sz="1500">
              <a:solidFill>
                <a:srgbClr val="E9DF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DFD6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C8A24B"/>
                </a:solidFill>
                <a:latin typeface="Calibri"/>
                <a:ea typeface="Calibri"/>
                <a:cs typeface="Calibri"/>
                <a:sym typeface="Calibri"/>
              </a:rPr>
              <a:t>Asad Raza · D03000182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Objectives: a seven-step retrieval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400"/>
              <a:buFont typeface="Calibri"/>
              <a:buNone/>
            </a:pPr>
            <a:r>
              <a:rPr lang="en-US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A sports </a:t>
            </a:r>
            <a:r>
              <a:rPr b="0" i="0" lang="en-US" sz="14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knowledge graph for information retrieval on the FIFA World Cup 2022, </a:t>
            </a:r>
            <a:r>
              <a:rPr lang="en-US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and evaluate against </a:t>
            </a:r>
            <a:r>
              <a:rPr b="0" i="0" lang="en-US" sz="14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querying the datasets separately.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 txBox="1"/>
          <p:nvPr/>
        </p:nvSpPr>
        <p:spPr>
          <a:xfrm>
            <a:off x="548640" y="21488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1115568" y="2112264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Process the sports 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1115568" y="2423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Inventory &amp; clean four heterogeneous sources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48640" y="3172968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548640" y="31729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1115568" y="313639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Design an ontological schema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1115568" y="344728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A 10-class OWL TBox for the domain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8640" y="4197096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 txBox="1"/>
          <p:nvPr/>
        </p:nvSpPr>
        <p:spPr>
          <a:xfrm>
            <a:off x="548640" y="41970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1115568" y="416052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Extract multimedia features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1115568" y="447141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ResNet-50 vectors from player photos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48640" y="5221224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 txBox="1"/>
          <p:nvPr/>
        </p:nvSpPr>
        <p:spPr>
          <a:xfrm>
            <a:off x="548640" y="52212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1115568" y="51846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Construct the KG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115568" y="549554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Emit RDF triples (ABox) and merge with TBox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263640" y="2148840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 txBox="1"/>
          <p:nvPr/>
        </p:nvSpPr>
        <p:spPr>
          <a:xfrm>
            <a:off x="6263640" y="21488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6830568" y="2112264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Store in a graph database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6830568" y="2423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Load the graph into GraphDB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263640" y="3172968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6263640" y="31729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6830568" y="313639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Define retrieval queries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6830568" y="344728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13 SPARQL needs + image similarity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263640" y="4197096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6263640" y="41970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6830568" y="416052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Evaluate vs the raw datasets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6830568" y="447141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How KG helped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OUR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Modelling the domain as one graph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548640" y="146304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1" i="0" lang="en-US" sz="14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turned all four sources into a single RDF graph. </a:t>
            </a:r>
            <a:r>
              <a:rPr b="0" i="0" lang="en-US" sz="14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Every fact is a triple ⟨subject, predicate, object⟩ over global IRIs, so the same player appearing in three datasets becomes one node.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66928" y="2724912"/>
            <a:ext cx="146304" cy="14630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841248" y="265176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Schema (TBox).  </a:t>
            </a:r>
            <a:r>
              <a:rPr lang="en-US" sz="1250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Wrote the </a:t>
            </a: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worldcup_tbox.ttl by hand— 10 classes and 15 object properties, with inverse and domain/range axioms.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66928" y="3383280"/>
            <a:ext cx="146304" cy="14630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841248" y="3310128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Instances (ABox).  </a:t>
            </a: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03_build_kg.py generated the data triples — 20,023 in total — from the clean tables.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66928" y="4041648"/>
            <a:ext cx="146304" cy="14630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841248" y="3968496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Deterministic IRIs.  </a:t>
            </a:r>
            <a:r>
              <a:rPr lang="en-US" sz="1250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Minted nodes, e.g. </a:t>
            </a: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wc:player_P_14758, wc:team_ARG, … so records from all sources resolve to one node.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841248" y="4626864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Reasoning.  </a:t>
            </a: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GraphDB's RDFS-Plus ruleset materialises our inverse edges (hasGoal ↔ scoredInMatch) automatically.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66928" y="5358384"/>
            <a:ext cx="146304" cy="14630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841248" y="5285232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Retrieval.  </a:t>
            </a: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We query the graph with 13 SPARQL patterns plus content-based image similarity.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400800" y="1554480"/>
            <a:ext cx="5212080" cy="4572000"/>
          </a:xfrm>
          <a:prstGeom prst="roundRect">
            <a:avLst>
              <a:gd fmla="val 1600" name="adj"/>
            </a:avLst>
          </a:prstGeom>
          <a:solidFill>
            <a:srgbClr val="F5EFE9"/>
          </a:solidFill>
          <a:ln cap="flat" cmpd="sng" w="12700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6583680" y="17373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A real fact from our graph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720840" y="2331720"/>
            <a:ext cx="2103120" cy="566928"/>
          </a:xfrm>
          <a:prstGeom prst="roundRect">
            <a:avLst>
              <a:gd fmla="val 9677" name="adj"/>
            </a:avLst>
          </a:prstGeom>
          <a:solidFill>
            <a:srgbClr val="8A1538"/>
          </a:solidFill>
          <a:ln cap="flat" cmpd="sng" w="12700">
            <a:solidFill>
              <a:srgbClr val="3D0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6720840" y="233172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wc:player_P_14758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098280" y="2331720"/>
            <a:ext cx="233172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3D0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 txBox="1"/>
          <p:nvPr/>
        </p:nvSpPr>
        <p:spPr>
          <a:xfrm>
            <a:off x="9098280" y="2331720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(subject)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720840" y="3429000"/>
            <a:ext cx="470916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3D0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 txBox="1"/>
          <p:nvPr/>
        </p:nvSpPr>
        <p:spPr>
          <a:xfrm>
            <a:off x="6720840" y="3429000"/>
            <a:ext cx="4709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wc:representsTeam   →   wc:team_ARG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6766560" y="404164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predicate                                  object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4"/>
          <p:cNvCxnSpPr/>
          <p:nvPr/>
        </p:nvCxnSpPr>
        <p:spPr>
          <a:xfrm>
            <a:off x="7772400" y="2898648"/>
            <a:ext cx="0" cy="502920"/>
          </a:xfrm>
          <a:prstGeom prst="straightConnector1">
            <a:avLst/>
          </a:prstGeom>
          <a:noFill/>
          <a:ln cap="flat" cmpd="sng" w="25400">
            <a:solidFill>
              <a:srgbClr val="C8A24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" name="Google Shape;89;p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Why a knowledge graph, not SQL / pandas?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Both can answer a single-source question. The difference shows the moment a need spans several sources.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48640" y="1965960"/>
            <a:ext cx="3200400" cy="457200"/>
          </a:xfrm>
          <a:prstGeom prst="rect">
            <a:avLst/>
          </a:prstGeom>
          <a:solidFill>
            <a:srgbClr val="232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3749040" y="1965960"/>
            <a:ext cx="3931920" cy="457200"/>
          </a:xfrm>
          <a:prstGeom prst="rect">
            <a:avLst/>
          </a:prstGeom>
          <a:solidFill>
            <a:srgbClr val="6E6A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7680960" y="1965960"/>
            <a:ext cx="3931920" cy="457200"/>
          </a:xfrm>
          <a:prstGeom prst="rect">
            <a:avLst/>
          </a:prstGeom>
          <a:solidFill>
            <a:srgbClr val="8A1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685800" y="19659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Aspect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3886200" y="19659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Per-dataset (SQL / pandas)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7818120" y="19659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graph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48640" y="2423160"/>
            <a:ext cx="11064240" cy="640080"/>
          </a:xfrm>
          <a:prstGeom prst="rect">
            <a:avLst/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685800" y="24231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Cross-source joins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3886200" y="242316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Explicit join keys, re-coded in every query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7818120" y="242316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Implicit — shared IRIs make it one connected pattern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48640" y="3063240"/>
            <a:ext cx="11064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685800" y="30632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Data integration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3886200" y="30632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Repeated in each analysis 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7818120" y="30632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Materialised once, at build time, as edges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48640" y="3703320"/>
            <a:ext cx="11064240" cy="640080"/>
          </a:xfrm>
          <a:prstGeom prst="rect">
            <a:avLst/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685800" y="37033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Entity identity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3886200" y="37033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Fragile string keys, resolved per query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7818120" y="37033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Global IRIs — the entity is resolved once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" y="4343400"/>
            <a:ext cx="11064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685800" y="43434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Adding a source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3886200" y="43434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Write a new merge / join by hand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7818120" y="43434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Add triples; existing queries are unchanged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8640" y="4983480"/>
            <a:ext cx="11064240" cy="640080"/>
          </a:xfrm>
          <a:prstGeom prst="rect">
            <a:avLst/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685800" y="498348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Reasoning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3886200" y="49834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None — you code every derived fact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7818120" y="49834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RDFS-Plus derives inverse &amp; subclass edges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What this bought us:  </a:t>
            </a: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when we added the standings source late in the project, we only appended triples — all 13 existing SPARQL queries ran unchanged.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Four mandatory sources, three textual + one image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fmla="val 3043" name="adj"/>
            </a:avLst>
          </a:prstGeom>
          <a:solidFill>
            <a:srgbClr val="FFFFFF"/>
          </a:solidFill>
          <a:ln cap="flat" cmpd="sng" w="12700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777240" y="1856232"/>
            <a:ext cx="457200" cy="457200"/>
          </a:xfrm>
          <a:prstGeom prst="ellipse">
            <a:avLst/>
          </a:prstGeom>
          <a:solidFill>
            <a:srgbClr val="8A1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77724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8A24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1371600" y="1819656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jfjelstul/worldcup (GitHub)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1371600" y="2276856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A24B"/>
                </a:solidFill>
                <a:latin typeface="Calibri"/>
                <a:ea typeface="Calibri"/>
                <a:cs typeface="Calibri"/>
                <a:sym typeface="Calibri"/>
              </a:rPr>
              <a:t>27 RELATIONAL CSVS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804672" y="2679192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Tournaments, teams, confederations, players (bio), squads, matches, goals, stadiums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263640" y="1600200"/>
            <a:ext cx="5394960" cy="2103120"/>
          </a:xfrm>
          <a:prstGeom prst="roundRect">
            <a:avLst>
              <a:gd fmla="val 3043" name="adj"/>
            </a:avLst>
          </a:prstGeom>
          <a:solidFill>
            <a:srgbClr val="FFFFFF"/>
          </a:solidFill>
          <a:ln cap="flat" cmpd="sng" w="12700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492240" y="1856232"/>
            <a:ext cx="457200" cy="457200"/>
          </a:xfrm>
          <a:prstGeom prst="ellipse">
            <a:avLst/>
          </a:prstGeom>
          <a:solidFill>
            <a:srgbClr val="8A1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649224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8A24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7086600" y="1819656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Kaggle — WC 2022 player statistics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7086600" y="2276856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A24B"/>
                </a:solidFill>
                <a:latin typeface="Calibri"/>
                <a:ea typeface="Calibri"/>
                <a:cs typeface="Calibri"/>
                <a:sym typeface="Calibri"/>
              </a:rPr>
              <a:t>1 CSV, PER-PLAYER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6519672" y="2679192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Appearances, goals, assists, per-90 dribbles / tackles / duels, save %, clean sheets, club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fmla="val 3043" name="adj"/>
            </a:avLst>
          </a:prstGeom>
          <a:solidFill>
            <a:srgbClr val="FFFFFF"/>
          </a:solidFill>
          <a:ln cap="flat" cmpd="sng" w="12700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777240" y="4187952"/>
            <a:ext cx="457200" cy="457200"/>
          </a:xfrm>
          <a:prstGeom prst="ellipse">
            <a:avLst/>
          </a:prstGeom>
          <a:solidFill>
            <a:srgbClr val="8A1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777240" y="41879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8A24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1371600" y="4151376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Kaggle — all-players image 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1371600" y="4608576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A24B"/>
                </a:solidFill>
                <a:latin typeface="Calibri"/>
                <a:ea typeface="Calibri"/>
                <a:cs typeface="Calibri"/>
                <a:sym typeface="Calibri"/>
              </a:rPr>
              <a:t>820 PHOTO FOLDERS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804672" y="5010912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One folder of JPGs per player → PlayerImage (folder, count, feature vector)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263640" y="3931920"/>
            <a:ext cx="5394960" cy="2103120"/>
          </a:xfrm>
          <a:prstGeom prst="roundRect">
            <a:avLst>
              <a:gd fmla="val 3043" name="adj"/>
            </a:avLst>
          </a:prstGeom>
          <a:solidFill>
            <a:srgbClr val="FFFFFF"/>
          </a:solidFill>
          <a:ln cap="flat" cmpd="sng" w="12700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492240" y="4187952"/>
            <a:ext cx="457200" cy="457200"/>
          </a:xfrm>
          <a:prstGeom prst="ellipse">
            <a:avLst/>
          </a:prstGeom>
          <a:solidFill>
            <a:srgbClr val="8A1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6492240" y="41879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8A24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7086600" y="4151376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Kaggle — FIFA-2022 standings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7086600" y="4608576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A24B"/>
                </a:solidFill>
                <a:latin typeface="Calibri"/>
                <a:ea typeface="Calibri"/>
                <a:cs typeface="Calibri"/>
                <a:sym typeface="Calibri"/>
              </a:rPr>
              <a:t>1 CSV, PER-TEAM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6519672" y="5010912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Final position, W/D/L, goals for/against, goal difference,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Ten entity categories emerge: Tournament · Confederation · Team · Player · Club · Match · Goal · Stadium · Position · PlayerImage.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Cleaning &amp; integration decides retrievability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48640" y="1508760"/>
            <a:ext cx="2560320" cy="1234440"/>
          </a:xfrm>
          <a:prstGeom prst="roundRect">
            <a:avLst>
              <a:gd fmla="val 5185" name="adj"/>
            </a:avLst>
          </a:prstGeom>
          <a:solidFill>
            <a:srgbClr val="F3E8CE"/>
          </a:solidFill>
          <a:ln cap="flat" cmpd="sng" w="12700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548640" y="1627632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831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548640" y="23317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players scoped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337560" y="1508760"/>
            <a:ext cx="2560320" cy="1234440"/>
          </a:xfrm>
          <a:prstGeom prst="roundRect">
            <a:avLst>
              <a:gd fmla="val 5185" name="adj"/>
            </a:avLst>
          </a:prstGeom>
          <a:solidFill>
            <a:srgbClr val="F3E8CE"/>
          </a:solidFill>
          <a:ln cap="flat" cmpd="sng" w="12700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3337560" y="1627632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3337560" y="23317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clean 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126480" y="1508760"/>
            <a:ext cx="2560320" cy="1234440"/>
          </a:xfrm>
          <a:prstGeom prst="roundRect">
            <a:avLst>
              <a:gd fmla="val 5185" name="adj"/>
            </a:avLst>
          </a:prstGeom>
          <a:solidFill>
            <a:srgbClr val="F3E8CE"/>
          </a:solidFill>
          <a:ln cap="flat" cmpd="sng" w="12700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6126480" y="1627632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754/831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6126480" y="23317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matched by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8915400" y="1508760"/>
            <a:ext cx="2560320" cy="1234440"/>
          </a:xfrm>
          <a:prstGeom prst="roundRect">
            <a:avLst>
              <a:gd fmla="val 5185" name="adj"/>
            </a:avLst>
          </a:prstGeom>
          <a:solidFill>
            <a:srgbClr val="F3E8CE"/>
          </a:solidFill>
          <a:ln cap="flat" cmpd="sng" w="12700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8915400" y="1627632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8915400" y="23317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sources fused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Three structural problems, three fixes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66928" y="3566160"/>
            <a:ext cx="146304" cy="14630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841248" y="347472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Mixed encodings.  </a:t>
            </a: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Files mix UTF-8 and Latin-1 → detect encoding at the byte level so accented names aren't corrupted.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66928" y="4251960"/>
            <a:ext cx="146304" cy="14630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841248" y="416052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Mojibake image folders.  </a:t>
            </a: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Folder names are double-encoded UTF-8 (cp437/cp850) → keep the true path in a folderPath field.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66928" y="4937760"/>
            <a:ext cx="146304" cy="14630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841248" y="484632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No shared key.  </a:t>
            </a: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Statistics &amp; image sets share no id with worldcup → resolve players by a normalised name (name_norm).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How we did it:  </a:t>
            </a: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01_inventory.py profiled every raw file; 02_preprocess.py scoped all tables to WC-2022 and built player_master_2022 — the spine that resolves each player across the three vocabularies by name_norm.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SCHEMA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Ontology: 10 classes linked by 15 object properties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OneDrive\Desktop\Claude IR\worldcup-kg\ontology\schema_diagram.png" id="194" name="Google Shape;1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17320"/>
            <a:ext cx="1106424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Instance counts in parentheses; datatype attributes omitted. Every PlayerImage also stores a 128-d PCA-reduced ResNet-50 vector.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CONSTRUCTION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Populating the graph: 20,023 triples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Instances per class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66928" y="1874520"/>
            <a:ext cx="2468880" cy="566928"/>
          </a:xfrm>
          <a:prstGeom prst="roundRect">
            <a:avLst>
              <a:gd fmla="val 8065" name="adj"/>
            </a:avLst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704088" y="187452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Player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2121408" y="187452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831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3172968" y="1874520"/>
            <a:ext cx="2468880" cy="566928"/>
          </a:xfrm>
          <a:prstGeom prst="roundRect">
            <a:avLst>
              <a:gd fmla="val 8065" name="adj"/>
            </a:avLst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3310128" y="187452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PlayerImage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4727448" y="187452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820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66928" y="2532888"/>
            <a:ext cx="2468880" cy="566928"/>
          </a:xfrm>
          <a:prstGeom prst="roundRect">
            <a:avLst>
              <a:gd fmla="val 8065" name="adj"/>
            </a:avLst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704088" y="2532888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Club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2121408" y="2532888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298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172968" y="2532888"/>
            <a:ext cx="2468880" cy="566928"/>
          </a:xfrm>
          <a:prstGeom prst="roundRect">
            <a:avLst>
              <a:gd fmla="val 8065" name="adj"/>
            </a:avLst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3310128" y="2532888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4727448" y="2532888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172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66928" y="3191256"/>
            <a:ext cx="2468880" cy="566928"/>
          </a:xfrm>
          <a:prstGeom prst="roundRect">
            <a:avLst>
              <a:gd fmla="val 8065" name="adj"/>
            </a:avLst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704088" y="319125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2121408" y="3191256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64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172968" y="3191256"/>
            <a:ext cx="2468880" cy="566928"/>
          </a:xfrm>
          <a:prstGeom prst="roundRect">
            <a:avLst>
              <a:gd fmla="val 8065" name="adj"/>
            </a:avLst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3310128" y="319125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4727448" y="3191256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66928" y="3849624"/>
            <a:ext cx="2468880" cy="566928"/>
          </a:xfrm>
          <a:prstGeom prst="roundRect">
            <a:avLst>
              <a:gd fmla="val 8065" name="adj"/>
            </a:avLst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704088" y="3849624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Stadium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2121408" y="3849624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172968" y="3849624"/>
            <a:ext cx="2468880" cy="566928"/>
          </a:xfrm>
          <a:prstGeom prst="roundRect">
            <a:avLst>
              <a:gd fmla="val 8065" name="adj"/>
            </a:avLst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 txBox="1"/>
          <p:nvPr/>
        </p:nvSpPr>
        <p:spPr>
          <a:xfrm>
            <a:off x="3310128" y="3849624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Confederation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4727448" y="3849624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66928" y="4507992"/>
            <a:ext cx="2468880" cy="566928"/>
          </a:xfrm>
          <a:prstGeom prst="roundRect">
            <a:avLst>
              <a:gd fmla="val 8065" name="adj"/>
            </a:avLst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704088" y="450799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Position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2121408" y="4507992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172968" y="4507992"/>
            <a:ext cx="2468880" cy="566928"/>
          </a:xfrm>
          <a:prstGeom prst="roundRect">
            <a:avLst>
              <a:gd fmla="val 8065" name="adj"/>
            </a:avLst>
          </a:prstGeom>
          <a:solidFill>
            <a:srgbClr val="F5EFE9"/>
          </a:solidFill>
          <a:ln cap="flat" cmpd="sng" w="9525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3310128" y="450799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Tournament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4727448" y="4507992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035040" y="1463040"/>
            <a:ext cx="5577840" cy="4709160"/>
          </a:xfrm>
          <a:prstGeom prst="roundRect">
            <a:avLst>
              <a:gd fmla="val 1165" name="adj"/>
            </a:avLst>
          </a:prstGeom>
          <a:solidFill>
            <a:srgbClr val="3D0A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6263640" y="16002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A24B"/>
                </a:solidFill>
                <a:latin typeface="Calibri"/>
                <a:ea typeface="Calibri"/>
                <a:cs typeface="Calibri"/>
                <a:sym typeface="Calibri"/>
              </a:rPr>
              <a:t>ABox fragment (Turtle)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6263640" y="2011680"/>
            <a:ext cx="5166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wc:player_P_14758 a wc:Player 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  wc:playerName "Lionel Messi" 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  wc:representsTeam wc:team_ARG 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  wc:playsForClub  wc:club_psg 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  wc:hasPosition   wc:pos_FW 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  wc:hasImage      wc:img_P_14758 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  wc:matchesPlayed 7 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  wc:goalsScored 7 ; wc:assists 3 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wc:img_P_14758 a wc:PlayerImage 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  wc:imageCount 32 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  wc:folderPath "...\Lionel Messi" 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0E7D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E7DE"/>
                </a:solidFill>
                <a:latin typeface="Consolas"/>
                <a:ea typeface="Consolas"/>
                <a:cs typeface="Consolas"/>
                <a:sym typeface="Consolas"/>
              </a:rPr>
              <a:t>  wc:featureVector "0.0123 -0.09 ... 0.0055" 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548640" y="6126480"/>
            <a:ext cx="5349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Our build:  </a:t>
            </a:r>
            <a:r>
              <a:rPr b="0" i="0" lang="en-US" sz="11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03_build_kg.py reads the 11 tables and writes typed instances; 04_image_features.py adds the vectors; the two Turtle outputs merge into worldcup_full.ttl (20,023 triples).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EXPLORING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The graph in GraphDB (Visual graph)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OneDrive\Desktop\Claude IR\worldcup-kg\report\final_match.png" id="247" name="Google Shape;2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1203" y="1586160"/>
            <a:ext cx="6499125" cy="47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 txBox="1"/>
          <p:nvPr/>
        </p:nvSpPr>
        <p:spPr>
          <a:xfrm>
            <a:off x="548650" y="2592000"/>
            <a:ext cx="2041500" cy="26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Final — match_M_2022_64.  </a:t>
            </a: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Argentina vs France: the match node links out to both teams, its goals and the scorers — a multi-hop 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a4b3b5cf4_1_0"/>
          <p:cNvSpPr txBox="1"/>
          <p:nvPr/>
        </p:nvSpPr>
        <p:spPr>
          <a:xfrm>
            <a:off x="548640" y="384048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EXPLORING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a4b3b5cf4_1_0"/>
          <p:cNvSpPr txBox="1"/>
          <p:nvPr/>
        </p:nvSpPr>
        <p:spPr>
          <a:xfrm>
            <a:off x="548640" y="6583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The graph in GraphDB (Visual graph)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a4b3b5cf4_1_0"/>
          <p:cNvSpPr txBox="1"/>
          <p:nvPr/>
        </p:nvSpPr>
        <p:spPr>
          <a:xfrm>
            <a:off x="11612880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OneDrive\Desktop\Claude IR\worldcup-kg\report\messi_visual_graph.png" id="258" name="Google Shape;258;g3fa4b3b5cf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2550" y="1600200"/>
            <a:ext cx="6966586" cy="484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fa4b3b5cf4_1_0"/>
          <p:cNvSpPr txBox="1"/>
          <p:nvPr/>
        </p:nvSpPr>
        <p:spPr>
          <a:xfrm>
            <a:off x="548650" y="2530550"/>
            <a:ext cx="2108400" cy="29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Lionel Messi (wc:player_P_14758):</a:t>
            </a:r>
            <a:endParaRPr b="1" sz="1200">
              <a:solidFill>
                <a:srgbClr val="8A15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lang="en-US" sz="1100">
                <a:solidFill>
                  <a:schemeClr val="dk1"/>
                </a:solidFill>
              </a:rPr>
              <a:t>One node linking his goals, national team, club, position and image — facts drawn from three sources, fused on a single IRI. </a:t>
            </a:r>
            <a:endParaRPr sz="1200">
              <a:solidFill>
                <a:srgbClr val="2320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a4b3b5cf4_1_11"/>
          <p:cNvSpPr txBox="1"/>
          <p:nvPr/>
        </p:nvSpPr>
        <p:spPr>
          <a:xfrm>
            <a:off x="548640" y="384048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EXPLORING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a4b3b5cf4_1_11"/>
          <p:cNvSpPr txBox="1"/>
          <p:nvPr/>
        </p:nvSpPr>
        <p:spPr>
          <a:xfrm>
            <a:off x="548640" y="6583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The graph in GraphDB (Visual graph)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OneDrive\Desktop\Claude IR\worldcup-kg\report\argentina_graph.png" id="267" name="Google Shape;267;g3fa4b3b5cf4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4012" y="1577362"/>
            <a:ext cx="7213587" cy="48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a4b3b5cf4_1_11"/>
          <p:cNvSpPr txBox="1"/>
          <p:nvPr/>
        </p:nvSpPr>
        <p:spPr>
          <a:xfrm>
            <a:off x="548650" y="2519138"/>
            <a:ext cx="2108400" cy="29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Argentina hub (team_ARG).  </a:t>
            </a: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Squad, goals, matches, confederation and tournament fused on one IRI, from several sources.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a4b3b5cf4_1_11"/>
          <p:cNvSpPr txBox="1"/>
          <p:nvPr/>
        </p:nvSpPr>
        <p:spPr>
          <a:xfrm>
            <a:off x="11612880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wo retrieval layers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fmla="val 1400" name="adj"/>
            </a:avLst>
          </a:prstGeom>
          <a:solidFill>
            <a:srgbClr val="F5EFE9"/>
          </a:solidFill>
          <a:ln cap="flat" cmpd="sng" w="12700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SPARQL query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 txBox="1"/>
          <p:nvPr/>
        </p:nvSpPr>
        <p:spPr>
          <a:xfrm>
            <a:off x="777240" y="219456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13 queries q01–q13 in queries/, run in GraphDB and by run_all.py. Features we used: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 txBox="1"/>
          <p:nvPr/>
        </p:nvSpPr>
        <p:spPr>
          <a:xfrm>
            <a:off x="777240" y="2834640"/>
            <a:ext cx="4983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Implicit joins</a:t>
            </a: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 — q05 spans worldcup + statistics with no join key.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Property paths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 — belongsToConfederation/confederationCode "CONMEBOL" in q05.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Sets &amp; negation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 — VALUES (20 PL clubs) in q05; FILTER NOT EXISTS own goals in q02.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 — COUNT / GROUP BY squad size in q13.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Entailment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 — RDFS-Plus lets us use hasGoal or its inverse interchangeably.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fmla="val 1400" name="adj"/>
            </a:avLst>
          </a:prstGeom>
          <a:solidFill>
            <a:srgbClr val="F3E8CE"/>
          </a:solidFill>
          <a:ln cap="flat" cmpd="sng" w="12700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 txBox="1"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Image-similarity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6446520" y="219456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image_similarity.py ranks players by cosine over the stored visual vectors. How we built it: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6446520" y="2834640"/>
            <a:ext cx="49834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 — 04_image_features.py runs each photo through ImageNet ResNet-50 → 2048-d penultimate layer, L2-normalised.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Stored in the 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 — PCA-128 vector as wc:featureVector on 820 PlayerImage nodes.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Query-by-example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 — give a player name, get the visually nearest players by cosine.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Linked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 — each hit is a wc:player IRI, so a visual match connects to team, club, stats.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End-to-end architecture: a scripted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OneDrive\Desktop\Claude IR\worldcup-kg\report\architecture.png" id="293" name="Google Shape;2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00200"/>
            <a:ext cx="1106424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Eleven clean tables fork into the KG builder (schema + instances) and the ResNet-50 feature extractor; outputs merge into one Turtle file loaded into GraphDB and queried by the SPARQL and image-similarity layers. The same tables feed the raw-pandas evaluation, so both sides start from identical inputs. Each stage writes a file, so any stage can be re-run in isolation.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QUERIES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13 SPARQL needs — worked example q05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Need.  </a:t>
            </a:r>
            <a:r>
              <a:rPr b="0" i="1" lang="en-US" sz="14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Which CONMEBOL internationals were playing their club football in England during the tournament?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OneDrive\Desktop\Claude IR\worldcup-kg\report\Query5.png" id="304" name="Google Shape;3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965960"/>
            <a:ext cx="5486400" cy="292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OneDrive\Desktop\Claude IR\worldcup-kg\report\Query5_result.png" id="305" name="Google Shape;3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2148840"/>
            <a:ext cx="53492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4"/>
          <p:cNvSpPr txBox="1"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One connected pattern spanning worldcup + statistics data (no answer in either alone): a two-step property path for CONMEBOL, VALUES for the 20 Premier-League clubs, and an implicit cross-source join.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→ 19 rows</a:t>
            </a:r>
            <a:r>
              <a:rPr b="0" i="0" lang="en-US" sz="125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  returned live from GraphDB — the raw side needs two CSV loads + a hand-keyed merge + a confederation lookup.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QUERIES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The payoff query — q10: one player, four sources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A single unified profile that no individual dataset can produce. Four sources resolve to one wc:player IRI: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4709160" y="3246120"/>
            <a:ext cx="2743200" cy="960120"/>
          </a:xfrm>
          <a:prstGeom prst="roundRect">
            <a:avLst>
              <a:gd fmla="val 7619" name="adj"/>
            </a:avLst>
          </a:prstGeom>
          <a:solidFill>
            <a:srgbClr val="8A1538"/>
          </a:solidFill>
          <a:ln cap="flat" cmpd="sng" w="19050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4709160" y="333756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Lionel Messi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3E8CE"/>
                </a:solidFill>
                <a:latin typeface="Calibri"/>
                <a:ea typeface="Calibri"/>
                <a:cs typeface="Calibri"/>
                <a:sym typeface="Calibri"/>
              </a:rPr>
              <a:t>wc:player_P_14758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1051560" y="1965960"/>
            <a:ext cx="4709160" cy="1051560"/>
          </a:xfrm>
          <a:prstGeom prst="roundRect">
            <a:avLst>
              <a:gd fmla="val 6087" name="adj"/>
            </a:avLst>
          </a:prstGeom>
          <a:solidFill>
            <a:srgbClr val="F5EFE9"/>
          </a:solidFill>
          <a:ln cap="flat" cmpd="sng" w="15875">
            <a:solidFill>
              <a:srgbClr val="8A1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1234440" y="207568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worldcup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1234440" y="242316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Team ARG · position FW · bio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6446520" y="1965960"/>
            <a:ext cx="4709160" cy="1051560"/>
          </a:xfrm>
          <a:prstGeom prst="roundRect">
            <a:avLst>
              <a:gd fmla="val 6087" name="adj"/>
            </a:avLst>
          </a:prstGeom>
          <a:solidFill>
            <a:srgbClr val="F5EFE9"/>
          </a:solidFill>
          <a:ln cap="flat" cmpd="sng" w="15875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6629400" y="207568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8A24B"/>
                </a:solidFill>
                <a:latin typeface="Calibri"/>
                <a:ea typeface="Calibri"/>
                <a:cs typeface="Calibri"/>
                <a:sym typeface="Calibri"/>
              </a:rPr>
              <a:t>statistics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 txBox="1"/>
          <p:nvPr/>
        </p:nvSpPr>
        <p:spPr>
          <a:xfrm>
            <a:off x="6629400" y="242316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7 apps · 7 goals · 3 assists · club PSG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1051560" y="4572000"/>
            <a:ext cx="4709160" cy="1051560"/>
          </a:xfrm>
          <a:prstGeom prst="roundRect">
            <a:avLst>
              <a:gd fmla="val 6087" name="adj"/>
            </a:avLst>
          </a:prstGeom>
          <a:solidFill>
            <a:srgbClr val="F5EFE9"/>
          </a:solidFill>
          <a:ln cap="flat" cmpd="sng" w="15875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 txBox="1"/>
          <p:nvPr/>
        </p:nvSpPr>
        <p:spPr>
          <a:xfrm>
            <a:off x="1234440" y="4681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8A24B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1234440" y="502920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photo folder (32) · 128-d feature vector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6446520" y="4572000"/>
            <a:ext cx="4709160" cy="1051560"/>
          </a:xfrm>
          <a:prstGeom prst="roundRect">
            <a:avLst>
              <a:gd fmla="val 6087" name="adj"/>
            </a:avLst>
          </a:prstGeom>
          <a:solidFill>
            <a:srgbClr val="F5EFE9"/>
          </a:solidFill>
          <a:ln cap="flat" cmpd="sng" w="15875">
            <a:solidFill>
              <a:srgbClr val="8A1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6629400" y="4681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standings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6629400" y="502920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Argentina — final position 1 (champions)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p15"/>
          <p:cNvCxnSpPr/>
          <p:nvPr/>
        </p:nvCxnSpPr>
        <p:spPr>
          <a:xfrm>
            <a:off x="5806440" y="2788920"/>
            <a:ext cx="0" cy="411480"/>
          </a:xfrm>
          <a:prstGeom prst="straightConnector1">
            <a:avLst/>
          </a:prstGeom>
          <a:noFill/>
          <a:ln cap="flat" cmpd="sng" w="19050">
            <a:solidFill>
              <a:srgbClr val="6E6A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2" name="Google Shape;332;p15"/>
          <p:cNvCxnSpPr/>
          <p:nvPr/>
        </p:nvCxnSpPr>
        <p:spPr>
          <a:xfrm>
            <a:off x="6355080" y="2788920"/>
            <a:ext cx="0" cy="411480"/>
          </a:xfrm>
          <a:prstGeom prst="straightConnector1">
            <a:avLst/>
          </a:prstGeom>
          <a:noFill/>
          <a:ln cap="flat" cmpd="sng" w="19050">
            <a:solidFill>
              <a:srgbClr val="6E6A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3" name="Google Shape;333;p15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3 explicit joins on the raw side · one connected pattern on the graph. Spans worldcup + statistics + images + standings.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The KG reproduces every per-dataset answer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Six needs, each solved twice: (A) one SPARQL query over the KG, (B) an equivalent hand-written pandas pipeline over the raw CSVs. Primary check: answer equivalence A == B.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3" name="Google Shape;343;p16"/>
          <p:cNvGraphicFramePr/>
          <p:nvPr/>
        </p:nvGraphicFramePr>
        <p:xfrm>
          <a:off x="548640" y="2148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{3CF86B7E-9EB0-4654-968B-B51B31C3AE0D}</a:tableStyleId>
              </a:tblPr>
              <a:tblGrid>
                <a:gridCol w="457200"/>
                <a:gridCol w="3200400"/>
                <a:gridCol w="731525"/>
                <a:gridCol w="731525"/>
                <a:gridCol w="1005850"/>
                <a:gridCol w="7315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Information need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Joins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 KG/raw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A==B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153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Tournament winner + host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/ 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Top-10 goalscorers (own goals excl.)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/ 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Argentina squad with club side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CONMEBOL players at English clubs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/ 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Goalkeepers ranked by save 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/ 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World Cup final top-4 + confederation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/ 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</a:tr>
            </a:tbl>
          </a:graphicData>
        </a:graphic>
      </p:graphicFrame>
      <p:sp>
        <p:nvSpPr>
          <p:cNvPr id="344" name="Google Shape;344;p16"/>
          <p:cNvSpPr/>
          <p:nvPr/>
        </p:nvSpPr>
        <p:spPr>
          <a:xfrm>
            <a:off x="7680960" y="2148840"/>
            <a:ext cx="3931920" cy="1600200"/>
          </a:xfrm>
          <a:prstGeom prst="roundRect">
            <a:avLst>
              <a:gd fmla="val 4000" name="adj"/>
            </a:avLst>
          </a:prstGeom>
          <a:solidFill>
            <a:srgbClr val="F3E8CE"/>
          </a:solidFill>
          <a:ln cap="flat" cmpd="sng" w="12700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7680960" y="2286000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6 / 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7680960" y="3063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answers identical to the baseline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7680960" y="3931920"/>
            <a:ext cx="3931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Precision = Recall = P@k = MAP = 1.0.  </a:t>
            </a: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The needs are factual with a single correct answer set, so once A==B holds these metrics are trivially 1 — the evaluation is integration-centric, not ranking-centric.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548640" y="58064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How we tested it:  </a:t>
            </a:r>
            <a:r>
              <a:rPr b="0" i="0" lang="en-US" sz="115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benchmark.py runs each need both ways and checks A==B — the raw side needed up to 2 extra CSV loads and hand-keyed merges to match what the KG answers in one query.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MULTIMEDIA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Content-based image retrieval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Query-by-example for Lionel Messi — six visually nearest players by ResNet-50 cosine: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8" name="Google Shape;358;p17"/>
          <p:cNvGraphicFramePr/>
          <p:nvPr/>
        </p:nvGraphicFramePr>
        <p:xfrm>
          <a:off x="54864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{3CF86B7E-9EB0-4654-968B-B51B31C3AE0D}</a:tableStyleId>
              </a:tblPr>
              <a:tblGrid>
                <a:gridCol w="914400"/>
                <a:gridCol w="3291850"/>
                <a:gridCol w="12801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Nearest player (visual)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Cosine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15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Noa Lang (Netherlands)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Stefan de Vrij (Netherlands)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Martin Caceres (Uruguay)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Arkadiusz Milik (Poland)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Lautaro Martinez (Argentina)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Neymar (Brazil)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0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0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B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FE9"/>
                    </a:solidFill>
                  </a:tcPr>
                </a:tc>
              </a:tr>
            </a:tbl>
          </a:graphicData>
        </a:graphic>
      </p:graphicFrame>
      <p:sp>
        <p:nvSpPr>
          <p:cNvPr id="359" name="Google Shape;359;p17"/>
          <p:cNvSpPr txBox="1"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Neighbours are visually coherent (framing, kit, pose) but not the same identity — the limit of a single global CNN descriptor.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GraphDB — explore the graph live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548640" y="146304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The full graph is loaded in GraphDB Desktop 11.4.3 (repository worldcup2022, ruleset RDFS-Plus), which exposes a Workbench UI and a SPARQL endpoint.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548640" y="2514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Using</a:t>
            </a:r>
            <a:r>
              <a:rPr b="1" lang="en-US" sz="1500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 GraphDB, we </a:t>
            </a:r>
            <a:r>
              <a:rPr b="1" i="0" lang="en-US" sz="15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can: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 txBox="1"/>
          <p:nvPr/>
        </p:nvSpPr>
        <p:spPr>
          <a:xfrm>
            <a:off x="868680" y="2926080"/>
            <a:ext cx="5120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Explore → Visual graph — search a node (e.g. team_ARG) and expand its links.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SPARQL tab — run any of the 13 benchmark queries q01–q13 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Import → RDF — the graph is loaded from worldcup_full.ttl (20,023 triples).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6355080" y="1554480"/>
            <a:ext cx="5257800" cy="1371600"/>
          </a:xfrm>
          <a:prstGeom prst="roundRect">
            <a:avLst>
              <a:gd fmla="val 5333" name="adj"/>
            </a:avLst>
          </a:prstGeom>
          <a:solidFill>
            <a:srgbClr val="F5EFE9"/>
          </a:solidFill>
          <a:ln cap="flat" cmpd="sng" w="15875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 txBox="1"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WORKBENCH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 txBox="1"/>
          <p:nvPr/>
        </p:nvSpPr>
        <p:spPr>
          <a:xfrm>
            <a:off x="6629400" y="2121408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AA6"/>
              </a:buClr>
              <a:buSzPts val="1400"/>
              <a:buFont typeface="Consolas"/>
              <a:buNone/>
            </a:pPr>
            <a:r>
              <a:rPr b="1" i="0" lang="en-US" sz="1400" u="sng" cap="none" strike="noStrike">
                <a:solidFill>
                  <a:srgbClr val="0B5AA6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http://localhost:7200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6355080" y="3154680"/>
            <a:ext cx="5257800" cy="1371600"/>
          </a:xfrm>
          <a:prstGeom prst="roundRect">
            <a:avLst>
              <a:gd fmla="val 5333" name="adj"/>
            </a:avLst>
          </a:prstGeom>
          <a:solidFill>
            <a:srgbClr val="F5EFE9"/>
          </a:solidFill>
          <a:ln cap="flat" cmpd="sng" w="15875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"/>
          <p:cNvSpPr txBox="1"/>
          <p:nvPr/>
        </p:nvSpPr>
        <p:spPr>
          <a:xfrm>
            <a:off x="6629400" y="33558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SPARQL ENDPOINT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6629400" y="3721608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AA6"/>
              </a:buClr>
              <a:buSzPts val="1400"/>
              <a:buFont typeface="Consolas"/>
              <a:buNone/>
            </a:pPr>
            <a:r>
              <a:rPr b="1" i="0" lang="en-US" sz="1400" u="sng" cap="none" strike="noStrike">
                <a:solidFill>
                  <a:srgbClr val="0B5AA6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http://localhost:7200/repositories/worldcup2022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Interactive KG explorer (Streamlit)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OneDrive\Desktop\Claude IR\worldcup-kg\report\Messi ss1.png" id="385" name="Google Shape;3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704088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9"/>
          <p:cNvSpPr txBox="1"/>
          <p:nvPr/>
        </p:nvSpPr>
        <p:spPr>
          <a:xfrm>
            <a:off x="7818120" y="16002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Streamlit demo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 txBox="1"/>
          <p:nvPr/>
        </p:nvSpPr>
        <p:spPr>
          <a:xfrm>
            <a:off x="7863840" y="2103120"/>
            <a:ext cx="37947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One tab per ontology class (Player, Team, Match, Goal, …), each with search + dropdown.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A generic renderer resolves IRIs to readable names and shows incoming edges (squad, goals).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The Player tab shows photo, stats and final standing.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…plus the six most visually similar players, by cosine over the stored ResNet-50 vectors.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Runs on the same worldcup_full.ttl graph — retrieval and multimedia layers, made browsable.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What the graph delivers — and its limits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fmla="val 1429" name="adj"/>
            </a:avLst>
          </a:prstGeom>
          <a:solidFill>
            <a:srgbClr val="F5EFE9"/>
          </a:solidFill>
          <a:ln cap="flat" cmpd="sng" w="12700">
            <a:solidFill>
              <a:srgbClr val="E4DB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Contributions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 txBox="1"/>
          <p:nvPr/>
        </p:nvSpPr>
        <p:spPr>
          <a:xfrm>
            <a:off x="822960" y="2240280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10-class OWL ontology + 20,023-triple graph from all four sources.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A visual layer of 820 ResNet-50 vectors as first-class linkable nodes.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Declarative cross-source retrieval over stable IRIs; disambiguation by identifier.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Every benchmark answer reproduced — the KG encodes the integration logic once, reusably.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A fully scripted pipeline; each stage independently re-runnable.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fmla="val 1429" name="adj"/>
            </a:avLst>
          </a:prstGeom>
          <a:solidFill>
            <a:srgbClr val="F3E8CE"/>
          </a:solidFill>
          <a:ln cap="flat" cmpd="sng" w="12700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A1538"/>
                </a:solidFill>
                <a:latin typeface="Cambria"/>
                <a:ea typeface="Cambria"/>
                <a:cs typeface="Cambria"/>
                <a:sym typeface="Cambria"/>
              </a:rPr>
              <a:t>Limits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 txBox="1"/>
          <p:nvPr/>
        </p:nvSpPr>
        <p:spPr>
          <a:xfrm>
            <a:off x="6492240" y="2240280"/>
            <a:ext cx="4846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Entity resolution is name-based — 77 of 831 players lack a statistics link.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One global CNN descriptor per player, so pose / kit / background can outweigh identity.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3201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Evaluation is integration-centric — no graded relevance, hence no P@k / MAP / nDCG.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 txBox="1"/>
          <p:nvPr/>
        </p:nvSpPr>
        <p:spPr>
          <a:xfrm>
            <a:off x="6492240" y="489204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None of these affect answer correctness — but each bounds how far the system generalises.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OUTLOOK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3201F"/>
                </a:solidFill>
                <a:latin typeface="Cambria"/>
                <a:ea typeface="Cambria"/>
                <a:cs typeface="Cambria"/>
                <a:sym typeface="Cambria"/>
              </a:rPr>
              <a:t>Future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 txBox="1"/>
          <p:nvPr/>
        </p:nvSpPr>
        <p:spPr>
          <a:xfrm>
            <a:off x="1143000" y="15544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Richer multimedia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1143000" y="189280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Ingest highlight video &amp; commentary audio with shot/scene segmentation, MPEG-7 descriptors and MFCC features, so events become retrievable.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548640" y="2532888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1"/>
          <p:cNvSpPr txBox="1"/>
          <p:nvPr/>
        </p:nvSpPr>
        <p:spPr>
          <a:xfrm>
            <a:off x="548640" y="25328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1143000" y="248716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Scalable visual search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1143000" y="2825496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Store full-dimensional embeddings behind an approximate-nearest-neighbour index for sub-second query-by-example at scale.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548640" y="3465576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1"/>
          <p:cNvSpPr txBox="1"/>
          <p:nvPr/>
        </p:nvSpPr>
        <p:spPr>
          <a:xfrm>
            <a:off x="548640" y="346557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1143000" y="3419856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Identity-based evaluation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1143000" y="3758184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Embed every photo per player and run image-to-image retrieval, reporting rank-1 accuracy.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548640" y="4398264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"/>
          <p:cNvSpPr txBox="1"/>
          <p:nvPr/>
        </p:nvSpPr>
        <p:spPr>
          <a:xfrm>
            <a:off x="548640" y="4398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1143000" y="4352544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KG embeddings &amp; neural ranking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1143000" y="4690872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Train TransE / DistMult / RotatE for link prediction; add a BERT / K-NRM re-ranker over the textual literals.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548640" y="5330952"/>
            <a:ext cx="420624" cy="420624"/>
          </a:xfrm>
          <a:prstGeom prst="ellipse">
            <a:avLst/>
          </a:prstGeom>
          <a:solidFill>
            <a:srgbClr val="C8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"/>
          <p:cNvSpPr txBox="1"/>
          <p:nvPr/>
        </p:nvSpPr>
        <p:spPr>
          <a:xfrm>
            <a:off x="548640" y="53309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0A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0A1E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1143000" y="5285232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53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A1538"/>
                </a:solidFill>
                <a:latin typeface="Calibri"/>
                <a:ea typeface="Calibri"/>
                <a:cs typeface="Calibri"/>
                <a:sym typeface="Calibri"/>
              </a:rPr>
              <a:t>Stronger entity resolution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1"/>
          <p:cNvSpPr txBox="1"/>
          <p:nvPr/>
        </p:nvSpPr>
        <p:spPr>
          <a:xfrm>
            <a:off x="1143000" y="562356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3201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01F"/>
                </a:solidFill>
                <a:latin typeface="Calibri"/>
                <a:ea typeface="Calibri"/>
                <a:cs typeface="Calibri"/>
                <a:sym typeface="Calibri"/>
              </a:rPr>
              <a:t>Link players and clubs to external authorities (e.g. Wikidata) to close the name-matching gap.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1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A6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0A1E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2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8A1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8A15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 txBox="1"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22"/>
          <p:cNvCxnSpPr/>
          <p:nvPr/>
        </p:nvCxnSpPr>
        <p:spPr>
          <a:xfrm>
            <a:off x="868680" y="342900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C8A2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22"/>
          <p:cNvSpPr txBox="1"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8CE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F3E8CE"/>
                </a:solidFill>
                <a:latin typeface="Calibri"/>
                <a:ea typeface="Calibri"/>
                <a:cs typeface="Calibri"/>
                <a:sym typeface="Calibri"/>
              </a:rPr>
              <a:t>A Multimedia Knowledge Graph for the FIFA World Cup 2022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 txBox="1"/>
          <p:nvPr/>
        </p:nvSpPr>
        <p:spPr>
          <a:xfrm>
            <a:off x="822960" y="39019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A24B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C8A24B"/>
                </a:solidFill>
                <a:latin typeface="Calibri"/>
                <a:ea typeface="Calibri"/>
                <a:cs typeface="Calibri"/>
                <a:sym typeface="Calibri"/>
              </a:rPr>
              <a:t>Asad Raza · D03000182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2026-09-07T21:27:02Z</dcterms:created>
  <dc:creator>PptxGenJS</dc:creator>
</cp:coreProperties>
</file>